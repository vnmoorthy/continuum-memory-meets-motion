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9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-2011680"/>
            <a:ext cx="5943600" cy="4754880"/>
          </a:xfrm>
          <a:prstGeom prst="ellipse">
            <a:avLst/>
          </a:prstGeom>
          <a:solidFill>
            <a:srgbClr val="0A2A2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412480" y="3657600"/>
            <a:ext cx="5303520" cy="4389120"/>
          </a:xfrm>
          <a:prstGeom prst="ellipse">
            <a:avLst/>
          </a:prstGeom>
          <a:solidFill>
            <a:srgbClr val="2A1A12">
              <a:alpha val="5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4FF5C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325880"/>
            <a:ext cx="109728" cy="3291840"/>
          </a:xfrm>
          <a:prstGeom prst="rect">
            <a:avLst/>
          </a:prstGeom>
          <a:solidFill>
            <a:srgbClr val="E4FF5C"/>
          </a:solidFill>
          <a:ln/>
        </p:spPr>
      </p:sp>
      <p:sp>
        <p:nvSpPr>
          <p:cNvPr id="6" name="Text 4"/>
          <p:cNvSpPr/>
          <p:nvPr/>
        </p:nvSpPr>
        <p:spPr>
          <a:xfrm>
            <a:off x="1051560" y="1417320"/>
            <a:ext cx="10241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dirty="0">
                <a:solidFill>
                  <a:srgbClr val="ECE6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CONTINUUM</a:t>
            </a:r>
            <a:endParaRPr lang="en-US" sz="6400" dirty="0"/>
          </a:p>
        </p:txBody>
      </p:sp>
      <p:sp>
        <p:nvSpPr>
          <p:cNvPr id="7" name="Text 5"/>
          <p:cNvSpPr/>
          <p:nvPr/>
        </p:nvSpPr>
        <p:spPr>
          <a:xfrm>
            <a:off x="1051560" y="251460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E4FF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Open Loop OS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051560" y="3246120"/>
            <a:ext cx="96012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There’s a $220k renewal sitting in someone’s notes.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Continuum doesn’t summarize it.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finishes it.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51560" y="47548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EC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Meets Motion  ·  3 minutes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6355080"/>
            <a:ext cx="10972800" cy="9144"/>
          </a:xfrm>
          <a:prstGeom prst="rect">
            <a:avLst/>
          </a:prstGeom>
          <a:solidFill>
            <a:srgbClr val="222831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" y="6446520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CONTINUUM  ·  OPEN LOOP OS  ·  MEMORY MEETS MOTION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698480" y="6446520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4F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9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-2011680"/>
            <a:ext cx="5943600" cy="4754880"/>
          </a:xfrm>
          <a:prstGeom prst="ellipse">
            <a:avLst/>
          </a:prstGeom>
          <a:solidFill>
            <a:srgbClr val="0A2A2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412480" y="3657600"/>
            <a:ext cx="5303520" cy="4389120"/>
          </a:xfrm>
          <a:prstGeom prst="ellipse">
            <a:avLst/>
          </a:prstGeom>
          <a:solidFill>
            <a:srgbClr val="2A1A12">
              <a:alpha val="5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4FF5C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38404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4F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ALREADY KNOW THIS FEELING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ECE6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work didn’t fail.</a:t>
            </a:r>
            <a:endParaRPr lang="en-US" sz="3400" dirty="0"/>
          </a:p>
          <a:p>
            <a:pPr indent="0" marL="0">
              <a:buNone/>
            </a:pPr>
            <a:r>
              <a:rPr lang="en-US" sz="3400" dirty="0">
                <a:solidFill>
                  <a:srgbClr val="ECE6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just… never finished.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640080" y="2788920"/>
            <a:ext cx="3566160" cy="73152"/>
          </a:xfrm>
          <a:prstGeom prst="rect">
            <a:avLst/>
          </a:prstGeom>
          <a:solidFill>
            <a:srgbClr val="5EC8C0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2862072"/>
            <a:ext cx="3566160" cy="2331720"/>
          </a:xfrm>
          <a:prstGeom prst="rect">
            <a:avLst/>
          </a:prstGeom>
          <a:solidFill>
            <a:srgbClr val="0E1218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310896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CE6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meeting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914400" y="3703320"/>
            <a:ext cx="3017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notes. Zero owners. Zero next actions that stick.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434840" y="2788920"/>
            <a:ext cx="3566160" cy="73152"/>
          </a:xfrm>
          <a:prstGeom prst="rect">
            <a:avLst/>
          </a:prstGeom>
          <a:solidFill>
            <a:srgbClr val="E4FF5C"/>
          </a:solidFill>
          <a:ln/>
        </p:spPr>
      </p:sp>
      <p:sp>
        <p:nvSpPr>
          <p:cNvPr id="12" name="Shape 10"/>
          <p:cNvSpPr/>
          <p:nvPr/>
        </p:nvSpPr>
        <p:spPr>
          <a:xfrm>
            <a:off x="4434840" y="2862072"/>
            <a:ext cx="3566160" cy="2331720"/>
          </a:xfrm>
          <a:prstGeom prst="rect">
            <a:avLst/>
          </a:prstGeom>
          <a:solidFill>
            <a:srgbClr val="0E1218"/>
          </a:solidFill>
          <a:ln/>
        </p:spPr>
      </p:sp>
      <p:sp>
        <p:nvSpPr>
          <p:cNvPr id="13" name="Text 11"/>
          <p:cNvSpPr/>
          <p:nvPr/>
        </p:nvSpPr>
        <p:spPr>
          <a:xfrm>
            <a:off x="4709160" y="310896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CE6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promise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709160" y="3703320"/>
            <a:ext cx="3017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“I’ll send that brief Friday.” Friday becomes never.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229600" y="2788920"/>
            <a:ext cx="3566160" cy="73152"/>
          </a:xfrm>
          <a:prstGeom prst="rect">
            <a:avLst/>
          </a:prstGeom>
          <a:solidFill>
            <a:srgbClr val="E8956C"/>
          </a:solidFill>
          <a:ln/>
        </p:spPr>
      </p:sp>
      <p:sp>
        <p:nvSpPr>
          <p:cNvPr id="16" name="Shape 14"/>
          <p:cNvSpPr/>
          <p:nvPr/>
        </p:nvSpPr>
        <p:spPr>
          <a:xfrm>
            <a:off x="8229600" y="2862072"/>
            <a:ext cx="3566160" cy="2331720"/>
          </a:xfrm>
          <a:prstGeom prst="rect">
            <a:avLst/>
          </a:prstGeom>
          <a:solidFill>
            <a:srgbClr val="0E1218"/>
          </a:solidFill>
          <a:ln/>
        </p:spPr>
      </p:sp>
      <p:sp>
        <p:nvSpPr>
          <p:cNvPr id="17" name="Text 15"/>
          <p:cNvSpPr/>
          <p:nvPr/>
        </p:nvSpPr>
        <p:spPr>
          <a:xfrm>
            <a:off x="8503920" y="310896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CE6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agent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503920" y="3703320"/>
            <a:ext cx="3017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chats. It drafts. Then it forgets the relationship.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94360" y="6355080"/>
            <a:ext cx="10972800" cy="9144"/>
          </a:xfrm>
          <a:prstGeom prst="rect">
            <a:avLst/>
          </a:prstGeom>
          <a:solidFill>
            <a:srgbClr val="222831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6446520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CONTINUUM  ·  OPEN LOOP OS  ·  MEMORY MEETS MOTION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698480" y="6446520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4F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9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-2011680"/>
            <a:ext cx="5943600" cy="4754880"/>
          </a:xfrm>
          <a:prstGeom prst="ellipse">
            <a:avLst/>
          </a:prstGeom>
          <a:solidFill>
            <a:srgbClr val="0A2A2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412480" y="3657600"/>
            <a:ext cx="5303520" cy="4389120"/>
          </a:xfrm>
          <a:prstGeom prst="ellipse">
            <a:avLst/>
          </a:prstGeom>
          <a:solidFill>
            <a:srgbClr val="2A1A12">
              <a:alpha val="5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4FF5C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38404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4F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BUG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05156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ECE6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 Loop Debt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640080" y="201168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Unfinished work that compounds quietly — until a renewal slips,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customer goes quiet, or a Friday brief never lands.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40080" y="3383280"/>
            <a:ext cx="10881360" cy="1965960"/>
          </a:xfrm>
          <a:prstGeom prst="rect">
            <a:avLst/>
          </a:prstGeom>
          <a:solidFill>
            <a:srgbClr val="0E1218"/>
          </a:solidFill>
          <a:ln/>
        </p:spPr>
      </p:sp>
      <p:sp>
        <p:nvSpPr>
          <p:cNvPr id="9" name="Text 7"/>
          <p:cNvSpPr/>
          <p:nvPr/>
        </p:nvSpPr>
        <p:spPr>
          <a:xfrm>
            <a:off x="960120" y="3703320"/>
            <a:ext cx="10241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CE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Chatbots remember fragments.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CE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apps track tickets.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CE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nothing measures unfinished work — then closes it with memory that lasts.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94360" y="6355080"/>
            <a:ext cx="10972800" cy="9144"/>
          </a:xfrm>
          <a:prstGeom prst="rect">
            <a:avLst/>
          </a:prstGeom>
          <a:solidFill>
            <a:srgbClr val="222831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" y="6446520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CONTINUUM  ·  OPEN LOOP OS  ·  MEMORY MEETS MOTION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698480" y="6446520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4F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9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-2011680"/>
            <a:ext cx="5943600" cy="4754880"/>
          </a:xfrm>
          <a:prstGeom prst="ellipse">
            <a:avLst/>
          </a:prstGeom>
          <a:solidFill>
            <a:srgbClr val="0A2A2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412480" y="3657600"/>
            <a:ext cx="5303520" cy="4389120"/>
          </a:xfrm>
          <a:prstGeom prst="ellipse">
            <a:avLst/>
          </a:prstGeom>
          <a:solidFill>
            <a:srgbClr val="2A1A12">
              <a:alpha val="5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4FF5C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38404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4F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CONTINUUM IS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9601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ECE6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Memory that moves.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40080" y="1783080"/>
            <a:ext cx="105156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graph of people, projects, and decisions.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loops scored by priority × age × dollars at risk.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 Motion that writes the result back — so debt actually drops.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40080" y="3291840"/>
            <a:ext cx="3566160" cy="91440"/>
          </a:xfrm>
          <a:prstGeom prst="rect">
            <a:avLst/>
          </a:prstGeom>
          <a:solidFill>
            <a:srgbClr val="5EC8C0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3383280"/>
            <a:ext cx="3566160" cy="1965960"/>
          </a:xfrm>
          <a:prstGeom prst="rect">
            <a:avLst/>
          </a:prstGeom>
          <a:solidFill>
            <a:srgbClr val="0E1218"/>
          </a:solidFill>
          <a:ln/>
        </p:spPr>
      </p:sp>
      <p:sp>
        <p:nvSpPr>
          <p:cNvPr id="10" name="Text 8"/>
          <p:cNvSpPr/>
          <p:nvPr/>
        </p:nvSpPr>
        <p:spPr>
          <a:xfrm>
            <a:off x="896112" y="3611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5EC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MEMORY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96112" y="411480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CE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Durable graph — not another chat log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434840" y="3291840"/>
            <a:ext cx="3566160" cy="91440"/>
          </a:xfrm>
          <a:prstGeom prst="rect">
            <a:avLst/>
          </a:prstGeom>
          <a:solidFill>
            <a:srgbClr val="E4FF5C"/>
          </a:solidFill>
          <a:ln/>
        </p:spPr>
      </p:sp>
      <p:sp>
        <p:nvSpPr>
          <p:cNvPr id="13" name="Shape 11"/>
          <p:cNvSpPr/>
          <p:nvPr/>
        </p:nvSpPr>
        <p:spPr>
          <a:xfrm>
            <a:off x="4434840" y="3383280"/>
            <a:ext cx="3566160" cy="1965960"/>
          </a:xfrm>
          <a:prstGeom prst="rect">
            <a:avLst/>
          </a:prstGeom>
          <a:solidFill>
            <a:srgbClr val="0E1218"/>
          </a:solidFill>
          <a:ln/>
        </p:spPr>
      </p:sp>
      <p:sp>
        <p:nvSpPr>
          <p:cNvPr id="14" name="Text 12"/>
          <p:cNvSpPr/>
          <p:nvPr/>
        </p:nvSpPr>
        <p:spPr>
          <a:xfrm>
            <a:off x="4690872" y="3611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E4F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DEBT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690872" y="411480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CE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$220k before it becomes a surprise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229600" y="3291840"/>
            <a:ext cx="3566160" cy="91440"/>
          </a:xfrm>
          <a:prstGeom prst="rect">
            <a:avLst/>
          </a:prstGeom>
          <a:solidFill>
            <a:srgbClr val="E8956C"/>
          </a:solidFill>
          <a:ln/>
        </p:spPr>
      </p:sp>
      <p:sp>
        <p:nvSpPr>
          <p:cNvPr id="17" name="Shape 15"/>
          <p:cNvSpPr/>
          <p:nvPr/>
        </p:nvSpPr>
        <p:spPr>
          <a:xfrm>
            <a:off x="8229600" y="3383280"/>
            <a:ext cx="3566160" cy="1965960"/>
          </a:xfrm>
          <a:prstGeom prst="rect">
            <a:avLst/>
          </a:prstGeom>
          <a:solidFill>
            <a:srgbClr val="0E1218"/>
          </a:solidFill>
          <a:ln/>
        </p:spPr>
      </p:sp>
      <p:sp>
        <p:nvSpPr>
          <p:cNvPr id="18" name="Text 16"/>
          <p:cNvSpPr/>
          <p:nvPr/>
        </p:nvSpPr>
        <p:spPr>
          <a:xfrm>
            <a:off x="8485632" y="3611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E895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MOTION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485632" y="411480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CE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loop. Cite every claim. Write back.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94360" y="6355080"/>
            <a:ext cx="10972800" cy="9144"/>
          </a:xfrm>
          <a:prstGeom prst="rect">
            <a:avLst/>
          </a:prstGeom>
          <a:solidFill>
            <a:srgbClr val="222831"/>
          </a:solidFill>
          <a:ln/>
        </p:spPr>
      </p:sp>
      <p:sp>
        <p:nvSpPr>
          <p:cNvPr id="21" name="Text 19"/>
          <p:cNvSpPr/>
          <p:nvPr/>
        </p:nvSpPr>
        <p:spPr>
          <a:xfrm>
            <a:off x="594360" y="6446520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CONTINUUM  ·  OPEN LOOP OS  ·  MEMORY MEETS MOTION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698480" y="6446520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4F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9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-2011680"/>
            <a:ext cx="5943600" cy="4754880"/>
          </a:xfrm>
          <a:prstGeom prst="ellipse">
            <a:avLst/>
          </a:prstGeom>
          <a:solidFill>
            <a:srgbClr val="0A2A2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412480" y="3657600"/>
            <a:ext cx="5303520" cy="4389120"/>
          </a:xfrm>
          <a:prstGeom prst="ellipse">
            <a:avLst/>
          </a:prstGeom>
          <a:solidFill>
            <a:srgbClr val="2A1A12">
              <a:alpha val="5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4FF5C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38404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4F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STAKES IN THIS ROOM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00584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dirty="0">
                <a:solidFill>
                  <a:srgbClr val="E4FF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$220,000</a:t>
            </a:r>
            <a:endParaRPr lang="en-US" sz="6400" dirty="0"/>
          </a:p>
        </p:txBody>
      </p:sp>
      <p:sp>
        <p:nvSpPr>
          <p:cNvPr id="7" name="Text 5"/>
          <p:cNvSpPr/>
          <p:nvPr/>
        </p:nvSpPr>
        <p:spPr>
          <a:xfrm>
            <a:off x="640080" y="20574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CE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Acme Health renewal — sitting in open loops right now.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40080" y="2880360"/>
            <a:ext cx="10881360" cy="749808"/>
          </a:xfrm>
          <a:prstGeom prst="rect">
            <a:avLst/>
          </a:prstGeom>
          <a:solidFill>
            <a:srgbClr val="0E1218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2880360"/>
            <a:ext cx="91440" cy="749808"/>
          </a:xfrm>
          <a:prstGeom prst="rect">
            <a:avLst/>
          </a:prstGeom>
          <a:solidFill>
            <a:srgbClr val="5EC8C0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30632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4F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Maya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566160" y="3063240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CE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 Friday-ready risk brief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40080" y="3749040"/>
            <a:ext cx="10881360" cy="749808"/>
          </a:xfrm>
          <a:prstGeom prst="rect">
            <a:avLst/>
          </a:prstGeom>
          <a:solidFill>
            <a:srgbClr val="0E1218"/>
          </a:solidFill>
          <a:ln/>
        </p:spPr>
      </p:sp>
      <p:sp>
        <p:nvSpPr>
          <p:cNvPr id="13" name="Shape 11"/>
          <p:cNvSpPr/>
          <p:nvPr/>
        </p:nvSpPr>
        <p:spPr>
          <a:xfrm>
            <a:off x="640080" y="3749040"/>
            <a:ext cx="91440" cy="749808"/>
          </a:xfrm>
          <a:prstGeom prst="rect">
            <a:avLst/>
          </a:prstGeom>
          <a:solidFill>
            <a:srgbClr val="5EC8C0"/>
          </a:solidFill>
          <a:ln/>
        </p:spPr>
      </p:sp>
      <p:sp>
        <p:nvSpPr>
          <p:cNvPr id="14" name="Text 12"/>
          <p:cNvSpPr/>
          <p:nvPr/>
        </p:nvSpPr>
        <p:spPr>
          <a:xfrm>
            <a:off x="1005840" y="39319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4F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566160" y="3931920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CE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 onboarding gaps in the QBR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40080" y="4617720"/>
            <a:ext cx="10881360" cy="749808"/>
          </a:xfrm>
          <a:prstGeom prst="rect">
            <a:avLst/>
          </a:prstGeom>
          <a:solidFill>
            <a:srgbClr val="0E1218"/>
          </a:solidFill>
          <a:ln/>
        </p:spPr>
      </p:sp>
      <p:sp>
        <p:nvSpPr>
          <p:cNvPr id="17" name="Shape 15"/>
          <p:cNvSpPr/>
          <p:nvPr/>
        </p:nvSpPr>
        <p:spPr>
          <a:xfrm>
            <a:off x="640080" y="4617720"/>
            <a:ext cx="91440" cy="749808"/>
          </a:xfrm>
          <a:prstGeom prst="rect">
            <a:avLst/>
          </a:prstGeom>
          <a:solidFill>
            <a:srgbClr val="E4FF5C"/>
          </a:solidFill>
          <a:ln/>
        </p:spPr>
      </p:sp>
      <p:sp>
        <p:nvSpPr>
          <p:cNvPr id="18" name="Text 16"/>
          <p:cNvSpPr/>
          <p:nvPr/>
        </p:nvSpPr>
        <p:spPr>
          <a:xfrm>
            <a:off x="1005840" y="48006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4F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Continuum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3566160" y="4800600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CE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remembers both — and the unfinished work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594360" y="6355080"/>
            <a:ext cx="10972800" cy="9144"/>
          </a:xfrm>
          <a:prstGeom prst="rect">
            <a:avLst/>
          </a:prstGeom>
          <a:solidFill>
            <a:srgbClr val="222831"/>
          </a:solidFill>
          <a:ln/>
        </p:spPr>
      </p:sp>
      <p:sp>
        <p:nvSpPr>
          <p:cNvPr id="21" name="Text 19"/>
          <p:cNvSpPr/>
          <p:nvPr/>
        </p:nvSpPr>
        <p:spPr>
          <a:xfrm>
            <a:off x="594360" y="6446520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CONTINUUM  ·  OPEN LOOP OS  ·  MEMORY MEETS MOTION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698480" y="6446520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4F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9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-2011680"/>
            <a:ext cx="5943600" cy="4754880"/>
          </a:xfrm>
          <a:prstGeom prst="ellipse">
            <a:avLst/>
          </a:prstGeom>
          <a:solidFill>
            <a:srgbClr val="0A2A2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412480" y="3657600"/>
            <a:ext cx="5303520" cy="4389120"/>
          </a:xfrm>
          <a:prstGeom prst="ellipse">
            <a:avLst/>
          </a:prstGeom>
          <a:solidFill>
            <a:srgbClr val="2A1A12">
              <a:alpha val="5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4FF5C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38404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4F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THIS — 75 SECONDS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8686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ECE6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Close My Morning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640080" y="1691640"/>
            <a:ext cx="5394960" cy="1737360"/>
          </a:xfrm>
          <a:prstGeom prst="rect">
            <a:avLst/>
          </a:prstGeom>
          <a:solidFill>
            <a:srgbClr val="0E1218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201168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E4FF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920240" y="20574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CE6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Debt score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960120" y="269748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Open Loop Debt + $ at risk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309360" y="1691640"/>
            <a:ext cx="5394960" cy="1737360"/>
          </a:xfrm>
          <a:prstGeom prst="rect">
            <a:avLst/>
          </a:prstGeom>
          <a:solidFill>
            <a:srgbClr val="0E1218"/>
          </a:solidFill>
          <a:ln/>
        </p:spPr>
      </p:sp>
      <p:sp>
        <p:nvSpPr>
          <p:cNvPr id="12" name="Text 10"/>
          <p:cNvSpPr/>
          <p:nvPr/>
        </p:nvSpPr>
        <p:spPr>
          <a:xfrm>
            <a:off x="6629400" y="201168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E4FF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7589520" y="20574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CE6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click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629400" y="269748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My Morning queues Cited Motion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40080" y="3657600"/>
            <a:ext cx="5394960" cy="1737360"/>
          </a:xfrm>
          <a:prstGeom prst="rect">
            <a:avLst/>
          </a:prstGeom>
          <a:solidFill>
            <a:srgbClr val="0E1218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397764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E4FF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1920240" y="402336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CE6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run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60120" y="46634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→ reason → research → artifact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309360" y="3657600"/>
            <a:ext cx="5394960" cy="1737360"/>
          </a:xfrm>
          <a:prstGeom prst="rect">
            <a:avLst/>
          </a:prstGeom>
          <a:solidFill>
            <a:srgbClr val="0E1218"/>
          </a:solidFill>
          <a:ln/>
        </p:spPr>
      </p:sp>
      <p:sp>
        <p:nvSpPr>
          <p:cNvPr id="20" name="Text 18"/>
          <p:cNvSpPr/>
          <p:nvPr/>
        </p:nvSpPr>
        <p:spPr>
          <a:xfrm>
            <a:off x="6629400" y="397764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E4FF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7589520" y="402336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CE6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wow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629400" y="46634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## Citations + debt before → after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594360" y="6355080"/>
            <a:ext cx="10972800" cy="9144"/>
          </a:xfrm>
          <a:prstGeom prst="rect">
            <a:avLst/>
          </a:prstGeom>
          <a:solidFill>
            <a:srgbClr val="222831"/>
          </a:solidFill>
          <a:ln/>
        </p:spPr>
      </p:sp>
      <p:sp>
        <p:nvSpPr>
          <p:cNvPr id="24" name="Text 22"/>
          <p:cNvSpPr/>
          <p:nvPr/>
        </p:nvSpPr>
        <p:spPr>
          <a:xfrm>
            <a:off x="594360" y="6446520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CONTINUUM  ·  OPEN LOOP OS  ·  MEMORY MEETS MOTION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698480" y="6446520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4F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9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-2011680"/>
            <a:ext cx="5943600" cy="4754880"/>
          </a:xfrm>
          <a:prstGeom prst="ellipse">
            <a:avLst/>
          </a:prstGeom>
          <a:solidFill>
            <a:srgbClr val="0A2A2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412480" y="3657600"/>
            <a:ext cx="5303520" cy="4389120"/>
          </a:xfrm>
          <a:prstGeom prst="ellipse">
            <a:avLst/>
          </a:prstGeom>
          <a:solidFill>
            <a:srgbClr val="2A1A12">
              <a:alpha val="5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4FF5C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38404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4F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JUST HAPPENED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00584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ECE6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a chat reply.</a:t>
            </a:r>
            <a:endParaRPr lang="en-US" sz="3600" dirty="0"/>
          </a:p>
          <a:p>
            <a:pPr indent="0" marL="0">
              <a:buNone/>
            </a:pPr>
            <a:r>
              <a:rPr lang="en-US" sz="3600" dirty="0">
                <a:solidFill>
                  <a:srgbClr val="ECE6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closed loop.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685800" y="2770632"/>
            <a:ext cx="256032" cy="256032"/>
          </a:xfrm>
          <a:prstGeom prst="ellipse">
            <a:avLst/>
          </a:prstGeom>
          <a:solidFill>
            <a:srgbClr val="5EC8C0"/>
          </a:solidFill>
          <a:ln/>
        </p:spPr>
      </p:sp>
      <p:sp>
        <p:nvSpPr>
          <p:cNvPr id="8" name="Text 6"/>
          <p:cNvSpPr/>
          <p:nvPr/>
        </p:nvSpPr>
        <p:spPr>
          <a:xfrm>
            <a:off x="1188720" y="2697480"/>
            <a:ext cx="10241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CE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renewal-risk brief Maya can actually send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85800" y="3456432"/>
            <a:ext cx="256032" cy="256032"/>
          </a:xfrm>
          <a:prstGeom prst="ellipse">
            <a:avLst/>
          </a:prstGeom>
          <a:solidFill>
            <a:srgbClr val="5EC8C0"/>
          </a:solidFill>
          <a:ln/>
        </p:spPr>
      </p:sp>
      <p:sp>
        <p:nvSpPr>
          <p:cNvPr id="10" name="Text 8"/>
          <p:cNvSpPr/>
          <p:nvPr/>
        </p:nvSpPr>
        <p:spPr>
          <a:xfrm>
            <a:off x="1188720" y="3383280"/>
            <a:ext cx="10241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CE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claim tied to a memory node she can inspect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85800" y="4142232"/>
            <a:ext cx="256032" cy="256032"/>
          </a:xfrm>
          <a:prstGeom prst="ellipse">
            <a:avLst/>
          </a:prstGeom>
          <a:solidFill>
            <a:srgbClr val="E4FF5C"/>
          </a:solidFill>
          <a:ln/>
        </p:spPr>
      </p:sp>
      <p:sp>
        <p:nvSpPr>
          <p:cNvPr id="12" name="Text 10"/>
          <p:cNvSpPr/>
          <p:nvPr/>
        </p:nvSpPr>
        <p:spPr>
          <a:xfrm>
            <a:off x="1188720" y="4069080"/>
            <a:ext cx="10241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CE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loop marked closed — debt number went down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85800" y="4828032"/>
            <a:ext cx="256032" cy="256032"/>
          </a:xfrm>
          <a:prstGeom prst="ellipse">
            <a:avLst/>
          </a:prstGeom>
          <a:solidFill>
            <a:srgbClr val="5EC8C0"/>
          </a:solidFill>
          <a:ln/>
        </p:spPr>
      </p:sp>
      <p:sp>
        <p:nvSpPr>
          <p:cNvPr id="14" name="Text 12"/>
          <p:cNvSpPr/>
          <p:nvPr/>
        </p:nvSpPr>
        <p:spPr>
          <a:xfrm>
            <a:off x="1188720" y="4754880"/>
            <a:ext cx="10241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CE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artifact written back into the graph for next time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94360" y="6355080"/>
            <a:ext cx="10972800" cy="9144"/>
          </a:xfrm>
          <a:prstGeom prst="rect">
            <a:avLst/>
          </a:prstGeom>
          <a:solidFill>
            <a:srgbClr val="222831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6446520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CONTINUUM  ·  OPEN LOOP OS  ·  MEMORY MEETS MOTION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698480" y="6446520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4F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9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-2011680"/>
            <a:ext cx="5943600" cy="4754880"/>
          </a:xfrm>
          <a:prstGeom prst="ellipse">
            <a:avLst/>
          </a:prstGeom>
          <a:solidFill>
            <a:srgbClr val="0A2A2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412480" y="3657600"/>
            <a:ext cx="5303520" cy="4389120"/>
          </a:xfrm>
          <a:prstGeom prst="ellipse">
            <a:avLst/>
          </a:prstGeom>
          <a:solidFill>
            <a:srgbClr val="2A1A12">
              <a:alpha val="5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4FF5C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38404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4F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BELONGS AT MEMORY MEETS MOTION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8686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ECE6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Sponsor clients — actually wired.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640080" y="1691640"/>
            <a:ext cx="3611880" cy="1737360"/>
          </a:xfrm>
          <a:prstGeom prst="rect">
            <a:avLst/>
          </a:prstGeom>
          <a:solidFill>
            <a:srgbClr val="0E1218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691640"/>
            <a:ext cx="3611880" cy="73152"/>
          </a:xfrm>
          <a:prstGeom prst="rect">
            <a:avLst/>
          </a:prstGeom>
          <a:solidFill>
            <a:srgbClr val="5EC8C0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2148840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CE6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RocketRide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914400" y="26974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Motion pipelines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34840" y="1691640"/>
            <a:ext cx="3611880" cy="1737360"/>
          </a:xfrm>
          <a:prstGeom prst="rect">
            <a:avLst/>
          </a:prstGeom>
          <a:solidFill>
            <a:srgbClr val="0E1218"/>
          </a:solidFill>
          <a:ln/>
        </p:spPr>
      </p:sp>
      <p:sp>
        <p:nvSpPr>
          <p:cNvPr id="12" name="Shape 10"/>
          <p:cNvSpPr/>
          <p:nvPr/>
        </p:nvSpPr>
        <p:spPr>
          <a:xfrm>
            <a:off x="4434840" y="1691640"/>
            <a:ext cx="3611880" cy="73152"/>
          </a:xfrm>
          <a:prstGeom prst="rect">
            <a:avLst/>
          </a:prstGeom>
          <a:solidFill>
            <a:srgbClr val="E8956C"/>
          </a:solidFill>
          <a:ln/>
        </p:spPr>
      </p:sp>
      <p:sp>
        <p:nvSpPr>
          <p:cNvPr id="13" name="Text 11"/>
          <p:cNvSpPr/>
          <p:nvPr/>
        </p:nvSpPr>
        <p:spPr>
          <a:xfrm>
            <a:off x="4709160" y="2148840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CE6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FalkorDB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709160" y="26974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memory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229600" y="1691640"/>
            <a:ext cx="3611880" cy="1737360"/>
          </a:xfrm>
          <a:prstGeom prst="rect">
            <a:avLst/>
          </a:prstGeom>
          <a:solidFill>
            <a:srgbClr val="0E1218"/>
          </a:solidFill>
          <a:ln/>
        </p:spPr>
      </p:sp>
      <p:sp>
        <p:nvSpPr>
          <p:cNvPr id="16" name="Shape 14"/>
          <p:cNvSpPr/>
          <p:nvPr/>
        </p:nvSpPr>
        <p:spPr>
          <a:xfrm>
            <a:off x="8229600" y="1691640"/>
            <a:ext cx="3611880" cy="73152"/>
          </a:xfrm>
          <a:prstGeom prst="rect">
            <a:avLst/>
          </a:prstGeom>
          <a:solidFill>
            <a:srgbClr val="5EC8C0"/>
          </a:solidFill>
          <a:ln/>
        </p:spPr>
      </p:sp>
      <p:sp>
        <p:nvSpPr>
          <p:cNvPr id="17" name="Text 15"/>
          <p:cNvSpPr/>
          <p:nvPr/>
        </p:nvSpPr>
        <p:spPr>
          <a:xfrm>
            <a:off x="8503920" y="2148840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CE6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Linkup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503920" y="26974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research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0080" y="3657600"/>
            <a:ext cx="3611880" cy="1737360"/>
          </a:xfrm>
          <a:prstGeom prst="rect">
            <a:avLst/>
          </a:prstGeom>
          <a:solidFill>
            <a:srgbClr val="0E1218"/>
          </a:solidFill>
          <a:ln/>
        </p:spPr>
      </p:sp>
      <p:sp>
        <p:nvSpPr>
          <p:cNvPr id="20" name="Shape 18"/>
          <p:cNvSpPr/>
          <p:nvPr/>
        </p:nvSpPr>
        <p:spPr>
          <a:xfrm>
            <a:off x="640080" y="3657600"/>
            <a:ext cx="3611880" cy="73152"/>
          </a:xfrm>
          <a:prstGeom prst="rect">
            <a:avLst/>
          </a:prstGeom>
          <a:solidFill>
            <a:srgbClr val="E8956C"/>
          </a:solidFill>
          <a:ln/>
        </p:spPr>
      </p:sp>
      <p:sp>
        <p:nvSpPr>
          <p:cNvPr id="21" name="Text 19"/>
          <p:cNvSpPr/>
          <p:nvPr/>
        </p:nvSpPr>
        <p:spPr>
          <a:xfrm>
            <a:off x="914400" y="4114800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CE6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LaserData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914400" y="466344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streams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434840" y="3657600"/>
            <a:ext cx="3611880" cy="1737360"/>
          </a:xfrm>
          <a:prstGeom prst="rect">
            <a:avLst/>
          </a:prstGeom>
          <a:solidFill>
            <a:srgbClr val="0E1218"/>
          </a:solidFill>
          <a:ln/>
        </p:spPr>
      </p:sp>
      <p:sp>
        <p:nvSpPr>
          <p:cNvPr id="24" name="Shape 22"/>
          <p:cNvSpPr/>
          <p:nvPr/>
        </p:nvSpPr>
        <p:spPr>
          <a:xfrm>
            <a:off x="4434840" y="3657600"/>
            <a:ext cx="3611880" cy="73152"/>
          </a:xfrm>
          <a:prstGeom prst="rect">
            <a:avLst/>
          </a:prstGeom>
          <a:solidFill>
            <a:srgbClr val="5EC8C0"/>
          </a:solidFill>
          <a:ln/>
        </p:spPr>
      </p:sp>
      <p:sp>
        <p:nvSpPr>
          <p:cNvPr id="25" name="Text 23"/>
          <p:cNvSpPr/>
          <p:nvPr/>
        </p:nvSpPr>
        <p:spPr>
          <a:xfrm>
            <a:off x="4709160" y="4114800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CE6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Guild.ai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4709160" y="466344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 runs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8229600" y="3657600"/>
            <a:ext cx="3611880" cy="1737360"/>
          </a:xfrm>
          <a:prstGeom prst="rect">
            <a:avLst/>
          </a:prstGeom>
          <a:solidFill>
            <a:srgbClr val="0E1218"/>
          </a:solidFill>
          <a:ln/>
        </p:spPr>
      </p:sp>
      <p:sp>
        <p:nvSpPr>
          <p:cNvPr id="28" name="Shape 26"/>
          <p:cNvSpPr/>
          <p:nvPr/>
        </p:nvSpPr>
        <p:spPr>
          <a:xfrm>
            <a:off x="8229600" y="3657600"/>
            <a:ext cx="3611880" cy="73152"/>
          </a:xfrm>
          <a:prstGeom prst="rect">
            <a:avLst/>
          </a:prstGeom>
          <a:solidFill>
            <a:srgbClr val="E8956C"/>
          </a:solidFill>
          <a:ln/>
        </p:spPr>
      </p:sp>
      <p:sp>
        <p:nvSpPr>
          <p:cNvPr id="29" name="Text 27"/>
          <p:cNvSpPr/>
          <p:nvPr/>
        </p:nvSpPr>
        <p:spPr>
          <a:xfrm>
            <a:off x="8503920" y="4114800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CE6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Snyk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8503920" y="466344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safely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94360" y="6355080"/>
            <a:ext cx="10972800" cy="9144"/>
          </a:xfrm>
          <a:prstGeom prst="rect">
            <a:avLst/>
          </a:prstGeom>
          <a:solidFill>
            <a:srgbClr val="222831"/>
          </a:solidFill>
          <a:ln/>
        </p:spPr>
      </p:sp>
      <p:sp>
        <p:nvSpPr>
          <p:cNvPr id="32" name="Text 30"/>
          <p:cNvSpPr/>
          <p:nvPr/>
        </p:nvSpPr>
        <p:spPr>
          <a:xfrm>
            <a:off x="594360" y="6446520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CONTINUUM  ·  OPEN LOOP OS  ·  MEMORY MEETS MOTION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0698480" y="6446520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4F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9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-2011680"/>
            <a:ext cx="5943600" cy="4754880"/>
          </a:xfrm>
          <a:prstGeom prst="ellipse">
            <a:avLst/>
          </a:prstGeom>
          <a:solidFill>
            <a:srgbClr val="0A2A2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412480" y="3657600"/>
            <a:ext cx="5303520" cy="4389120"/>
          </a:xfrm>
          <a:prstGeom prst="ellipse">
            <a:avLst/>
          </a:prstGeom>
          <a:solidFill>
            <a:srgbClr val="2A1A12">
              <a:alpha val="5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4FF5C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38404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4F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UNFAIR PART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05156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ECE6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measure unfinished work.</a:t>
            </a:r>
            <a:endParaRPr lang="en-US" sz="3400" dirty="0"/>
          </a:p>
          <a:p>
            <a:pPr indent="0" marL="0">
              <a:buNone/>
            </a:pPr>
            <a:r>
              <a:rPr lang="en-US" sz="3400" dirty="0">
                <a:solidFill>
                  <a:srgbClr val="ECE6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Then we make it finish.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74320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mode stays honest when keys aren’t present.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 mode lights up RocketRide, FalkorDB, Linkup, Laser, Guild, Snyk.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Either way: debt is real, citations are inspectable, write-back is the product.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40080" y="4572000"/>
            <a:ext cx="10881360" cy="1051560"/>
          </a:xfrm>
          <a:prstGeom prst="rect">
            <a:avLst/>
          </a:prstGeom>
          <a:solidFill>
            <a:srgbClr val="0E1218"/>
          </a:solidFill>
          <a:ln/>
        </p:spPr>
      </p:sp>
      <p:sp>
        <p:nvSpPr>
          <p:cNvPr id="9" name="Text 7"/>
          <p:cNvSpPr/>
          <p:nvPr/>
        </p:nvSpPr>
        <p:spPr>
          <a:xfrm>
            <a:off x="960120" y="4892040"/>
            <a:ext cx="1024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4FF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another chatbot. The Open Loop OS.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94360" y="6355080"/>
            <a:ext cx="10972800" cy="9144"/>
          </a:xfrm>
          <a:prstGeom prst="rect">
            <a:avLst/>
          </a:prstGeom>
          <a:solidFill>
            <a:srgbClr val="222831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" y="6446520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CONTINUUM  ·  OPEN LOOP OS  ·  MEMORY MEETS MOTION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698480" y="6446520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4F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9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-2011680"/>
            <a:ext cx="5943600" cy="4754880"/>
          </a:xfrm>
          <a:prstGeom prst="ellipse">
            <a:avLst/>
          </a:prstGeom>
          <a:solidFill>
            <a:srgbClr val="0A2A2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412480" y="3657600"/>
            <a:ext cx="5303520" cy="4389120"/>
          </a:xfrm>
          <a:prstGeom prst="ellipse">
            <a:avLst/>
          </a:prstGeom>
          <a:solidFill>
            <a:srgbClr val="2A1A12">
              <a:alpha val="5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4FF5C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737360"/>
            <a:ext cx="109728" cy="2743200"/>
          </a:xfrm>
          <a:prstGeom prst="rect">
            <a:avLst/>
          </a:prstGeom>
          <a:solidFill>
            <a:srgbClr val="E4FF5C"/>
          </a:solidFill>
          <a:ln/>
        </p:spPr>
      </p:sp>
      <p:sp>
        <p:nvSpPr>
          <p:cNvPr id="6" name="Text 4"/>
          <p:cNvSpPr/>
          <p:nvPr/>
        </p:nvSpPr>
        <p:spPr>
          <a:xfrm>
            <a:off x="1051560" y="1828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4F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LOOP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51560" y="2286000"/>
            <a:ext cx="10058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dirty="0">
                <a:solidFill>
                  <a:srgbClr val="ECE6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Continuum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1051560" y="320040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that moves.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Let’s burn some debt.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051560" y="45720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4F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github.com/vnmoorthy/continuum-memory-meets-motion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94360" y="6355080"/>
            <a:ext cx="10972800" cy="9144"/>
          </a:xfrm>
          <a:prstGeom prst="rect">
            <a:avLst/>
          </a:prstGeom>
          <a:solidFill>
            <a:srgbClr val="222831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" y="6446520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CONTINUUM  ·  OPEN LOOP OS  ·  MEMORY MEETS MOTION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698480" y="6446520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4F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Continuum — Open Loop OS</dc:title>
  <dc:subject>Memory Meets Motion · 3-minute pitch</dc:subject>
  <dc:creator>vnmoorthy</dc:creator>
  <cp:lastModifiedBy>vnmoorthy</cp:lastModifiedBy>
  <cp:revision>1</cp:revision>
  <dcterms:created xsi:type="dcterms:W3CDTF">2026-08-03T22:26:13Z</dcterms:created>
  <dcterms:modified xsi:type="dcterms:W3CDTF">2026-08-03T22:26:13Z</dcterms:modified>
</cp:coreProperties>
</file>